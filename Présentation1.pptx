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13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1685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10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78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98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15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913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77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3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66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738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C3070-1581-421F-9DB7-8819823E2C6C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22F62-6810-4330-8511-9709451A5F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89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/>
        </p:nvGrpSpPr>
        <p:grpSpPr>
          <a:xfrm>
            <a:off x="6147844" y="273661"/>
            <a:ext cx="2096231" cy="1671272"/>
            <a:chOff x="1820008" y="817686"/>
            <a:chExt cx="2497015" cy="2198809"/>
          </a:xfrm>
        </p:grpSpPr>
        <p:sp>
          <p:nvSpPr>
            <p:cNvPr id="7" name="Rectangle 6"/>
            <p:cNvSpPr/>
            <p:nvPr/>
          </p:nvSpPr>
          <p:spPr>
            <a:xfrm>
              <a:off x="1820008" y="1046284"/>
              <a:ext cx="2497015" cy="197021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>
                  <a:solidFill>
                    <a:srgbClr val="FF0000"/>
                  </a:solidFill>
                </a:rPr>
                <a:t>Ce message </a:t>
              </a:r>
              <a:r>
                <a:rPr lang="fr-FR" sz="1000" b="1" dirty="0" smtClean="0">
                  <a:solidFill>
                    <a:srgbClr val="FF0000"/>
                  </a:solidFill>
                </a:rPr>
                <a:t>peut il être viral ?</a:t>
              </a:r>
              <a:endParaRPr lang="fr-FR" sz="1000" dirty="0">
                <a:solidFill>
                  <a:srgbClr val="FF0000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Message 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Impression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err="1" smtClean="0">
                  <a:solidFill>
                    <a:schemeClr val="tx1"/>
                  </a:solidFill>
                </a:rPr>
                <a:t>Likes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err="1">
                  <a:solidFill>
                    <a:schemeClr val="tx1"/>
                  </a:solidFill>
                </a:rPr>
                <a:t>S</a:t>
              </a:r>
              <a:r>
                <a:rPr lang="fr-FR" sz="1000" dirty="0" err="1" smtClean="0">
                  <a:solidFill>
                    <a:schemeClr val="tx1"/>
                  </a:solidFill>
                </a:rPr>
                <a:t>hares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>
                  <a:solidFill>
                    <a:schemeClr val="tx1"/>
                  </a:solidFill>
                </a:rPr>
                <a:t>C</a:t>
              </a:r>
              <a:r>
                <a:rPr lang="fr-FR" sz="1000" dirty="0" smtClean="0">
                  <a:solidFill>
                    <a:schemeClr val="tx1"/>
                  </a:solidFill>
                </a:rPr>
                <a:t>omment</a:t>
              </a:r>
              <a:endParaRPr lang="fr-FR" sz="1000" dirty="0">
                <a:solidFill>
                  <a:schemeClr val="tx1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Auteur :</a:t>
              </a:r>
              <a:endParaRPr lang="fr-FR" sz="1000" u="sng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nb </a:t>
              </a:r>
              <a:r>
                <a:rPr lang="fr-FR" sz="1000" dirty="0" err="1">
                  <a:solidFill>
                    <a:schemeClr val="tx1"/>
                  </a:solidFill>
                </a:rPr>
                <a:t>followers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certifié </a:t>
              </a:r>
              <a:r>
                <a:rPr lang="fr-FR" sz="10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2140926" y="817686"/>
              <a:ext cx="1855177" cy="32531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1</a:t>
              </a:r>
              <a:endParaRPr lang="fr-FR" sz="1050" b="1" dirty="0"/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1984511" y="696677"/>
            <a:ext cx="1607234" cy="982381"/>
            <a:chOff x="438149" y="764931"/>
            <a:chExt cx="1914525" cy="1679329"/>
          </a:xfrm>
        </p:grpSpPr>
        <p:sp>
          <p:nvSpPr>
            <p:cNvPr id="12" name="Rectangle 11"/>
            <p:cNvSpPr/>
            <p:nvPr/>
          </p:nvSpPr>
          <p:spPr>
            <a:xfrm>
              <a:off x="438149" y="764931"/>
              <a:ext cx="1914525" cy="1679329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rgbClr val="7030A0"/>
                  </a:solidFill>
                </a:rPr>
                <a:t>Auteur publication origine</a:t>
              </a:r>
            </a:p>
            <a:p>
              <a:r>
                <a:rPr lang="fr-FR" sz="1000" b="1" dirty="0" smtClean="0">
                  <a:solidFill>
                    <a:srgbClr val="7030A0"/>
                  </a:solidFill>
                </a:rPr>
                <a:t>Mot clés ? </a:t>
              </a:r>
            </a:p>
            <a:p>
              <a:r>
                <a:rPr lang="fr-FR" sz="1000" b="1" dirty="0" err="1" smtClean="0">
                  <a:solidFill>
                    <a:srgbClr val="7030A0"/>
                  </a:solidFill>
                </a:rPr>
                <a:t>HashTag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 ?</a:t>
              </a:r>
              <a:endParaRPr lang="fr-FR" sz="1000" b="1" dirty="0">
                <a:solidFill>
                  <a:srgbClr val="7030A0"/>
                </a:solidFill>
              </a:endParaRPr>
            </a:p>
          </p:txBody>
        </p:sp>
        <p:sp>
          <p:nvSpPr>
            <p:cNvPr id="11" name="Organigramme : Fusion 10"/>
            <p:cNvSpPr/>
            <p:nvPr/>
          </p:nvSpPr>
          <p:spPr>
            <a:xfrm>
              <a:off x="750277" y="764931"/>
              <a:ext cx="1204546" cy="602616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4141117" y="242791"/>
            <a:ext cx="1543571" cy="1593240"/>
            <a:chOff x="2921611" y="439615"/>
            <a:chExt cx="1838691" cy="1745638"/>
          </a:xfrm>
        </p:grpSpPr>
        <p:sp>
          <p:nvSpPr>
            <p:cNvPr id="14" name="Rectangle 13"/>
            <p:cNvSpPr/>
            <p:nvPr/>
          </p:nvSpPr>
          <p:spPr>
            <a:xfrm>
              <a:off x="2931502" y="764931"/>
              <a:ext cx="1828800" cy="142032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000" dirty="0" smtClean="0"/>
            </a:p>
            <a:p>
              <a:pPr algn="ctr"/>
              <a:endParaRPr lang="fr-FR" sz="1000" dirty="0"/>
            </a:p>
            <a:p>
              <a:pPr algn="ctr"/>
              <a:r>
                <a:rPr lang="fr-FR" sz="1000" dirty="0" smtClean="0"/>
                <a:t>Nombre de messages sur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H</a:t>
              </a:r>
              <a:r>
                <a:rPr lang="fr-FR" sz="1000" dirty="0" smtClean="0"/>
                <a:t> dernières heures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  <a:p>
              <a:pPr algn="ctr"/>
              <a:endParaRPr lang="fr-FR" sz="1000" dirty="0" smtClean="0"/>
            </a:p>
            <a:p>
              <a:pPr algn="ctr"/>
              <a:r>
                <a:rPr lang="fr-FR" sz="1000" dirty="0" smtClean="0"/>
                <a:t>Nombre d ’impressions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</p:txBody>
        </p:sp>
        <p:sp>
          <p:nvSpPr>
            <p:cNvPr id="17" name="Explosion 1 16"/>
            <p:cNvSpPr/>
            <p:nvPr/>
          </p:nvSpPr>
          <p:spPr>
            <a:xfrm>
              <a:off x="2921611" y="439615"/>
              <a:ext cx="1838691" cy="789110"/>
            </a:xfrm>
            <a:prstGeom prst="irregularSeal1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TRIGGER</a:t>
              </a:r>
              <a:endParaRPr lang="fr-FR" sz="1200" dirty="0"/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9141934" y="139465"/>
            <a:ext cx="2222940" cy="1736432"/>
            <a:chOff x="4381500" y="3956904"/>
            <a:chExt cx="2647950" cy="2284537"/>
          </a:xfrm>
        </p:grpSpPr>
        <p:sp>
          <p:nvSpPr>
            <p:cNvPr id="22" name="Rectangle 21"/>
            <p:cNvSpPr/>
            <p:nvPr/>
          </p:nvSpPr>
          <p:spPr>
            <a:xfrm>
              <a:off x="4381500" y="4410075"/>
              <a:ext cx="2647950" cy="1831366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endParaRPr lang="fr-FR" sz="1000" b="1" dirty="0">
                <a:solidFill>
                  <a:srgbClr val="FF0000"/>
                </a:solidFill>
              </a:endParaRPr>
            </a:p>
            <a:p>
              <a:r>
                <a:rPr lang="fr-FR" sz="1000" b="1" dirty="0" smtClean="0">
                  <a:solidFill>
                    <a:srgbClr val="FF0000"/>
                  </a:solidFill>
                </a:rPr>
                <a:t>Identifier les communautés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/>
                <a:t>nombre de comptes</a:t>
              </a:r>
              <a:br>
                <a:rPr lang="fr-FR" sz="1000" dirty="0" smtClean="0"/>
              </a:br>
              <a:r>
                <a:rPr lang="fr-FR" sz="1000" dirty="0" smtClean="0"/>
                <a:t>proportion comptes certifiés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/>
                <a:t>nombre total de </a:t>
              </a:r>
              <a:r>
                <a:rPr lang="fr-FR" sz="1000" dirty="0" err="1" smtClean="0"/>
                <a:t>followers</a:t>
              </a:r>
              <a:endParaRPr lang="fr-FR" sz="1000" dirty="0" smtClean="0"/>
            </a:p>
            <a:p>
              <a:endParaRPr lang="fr-FR" sz="1000" dirty="0"/>
            </a:p>
            <a:p>
              <a:r>
                <a:rPr lang="fr-FR" sz="1000" b="1" dirty="0" smtClean="0"/>
                <a:t>significatif</a:t>
              </a:r>
              <a:r>
                <a:rPr lang="fr-FR" sz="1000" dirty="0" smtClean="0"/>
                <a:t> = nombre de comptes/nombre comptes total thème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  <a:p>
              <a:endParaRPr lang="fr-FR" sz="1000" dirty="0"/>
            </a:p>
          </p:txBody>
        </p:sp>
        <p:sp>
          <p:nvSpPr>
            <p:cNvPr id="21" name="Carré corné 20"/>
            <p:cNvSpPr/>
            <p:nvPr/>
          </p:nvSpPr>
          <p:spPr>
            <a:xfrm>
              <a:off x="4736307" y="3956904"/>
              <a:ext cx="1819275" cy="613630"/>
            </a:xfrm>
            <a:prstGeom prst="foldedCorner">
              <a:avLst>
                <a:gd name="adj" fmla="val 28799"/>
              </a:avLst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200" dirty="0" smtClean="0"/>
                <a:t>SCRIPT 1</a:t>
              </a:r>
              <a:endParaRPr lang="fr-FR" sz="1200" dirty="0"/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9449788" y="2254958"/>
            <a:ext cx="1705892" cy="649351"/>
            <a:chOff x="438149" y="764931"/>
            <a:chExt cx="1914525" cy="1110033"/>
          </a:xfrm>
        </p:grpSpPr>
        <p:sp>
          <p:nvSpPr>
            <p:cNvPr id="25" name="Rectangle 24"/>
            <p:cNvSpPr/>
            <p:nvPr/>
          </p:nvSpPr>
          <p:spPr>
            <a:xfrm>
              <a:off x="438149" y="764931"/>
              <a:ext cx="1914525" cy="11100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Significatif ?</a:t>
              </a:r>
              <a:endParaRPr lang="fr-FR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Organigramme : Fusion 25"/>
            <p:cNvSpPr/>
            <p:nvPr/>
          </p:nvSpPr>
          <p:spPr>
            <a:xfrm>
              <a:off x="750277" y="764931"/>
              <a:ext cx="1204546" cy="602616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6147842" y="2484982"/>
            <a:ext cx="2096231" cy="1222112"/>
            <a:chOff x="4578284" y="2532607"/>
            <a:chExt cx="2096231" cy="1222112"/>
          </a:xfrm>
        </p:grpSpPr>
        <p:sp>
          <p:nvSpPr>
            <p:cNvPr id="28" name="Rectangle 27"/>
            <p:cNvSpPr/>
            <p:nvPr/>
          </p:nvSpPr>
          <p:spPr>
            <a:xfrm>
              <a:off x="4578284" y="2706360"/>
              <a:ext cx="2096231" cy="104835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Le contenu du message est-il un problème ?</a:t>
              </a:r>
              <a:endParaRPr lang="fr-FR" sz="1000" dirty="0">
                <a:solidFill>
                  <a:srgbClr val="FF0000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Analyse du narratif</a:t>
              </a: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Analyse de sentiment</a:t>
              </a: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Catégorisation des thèmes</a:t>
              </a:r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4847693" y="2532607"/>
              <a:ext cx="1557411" cy="2472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2</a:t>
              </a:r>
              <a:endParaRPr lang="fr-FR" sz="1050" b="1" dirty="0"/>
            </a:p>
          </p:txBody>
        </p:sp>
      </p:grpSp>
      <p:sp>
        <p:nvSpPr>
          <p:cNvPr id="30" name="Rectangle à coins arrondis 29"/>
          <p:cNvSpPr/>
          <p:nvPr/>
        </p:nvSpPr>
        <p:spPr>
          <a:xfrm>
            <a:off x="9499117" y="3283370"/>
            <a:ext cx="1607234" cy="26012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 smtClean="0"/>
              <a:t>AGENT 2 bis</a:t>
            </a:r>
            <a:endParaRPr lang="fr-FR" sz="105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7700768" y="5406826"/>
            <a:ext cx="2096231" cy="873022"/>
            <a:chOff x="4578284" y="2532607"/>
            <a:chExt cx="2096231" cy="873022"/>
          </a:xfrm>
        </p:grpSpPr>
        <p:sp>
          <p:nvSpPr>
            <p:cNvPr id="33" name="Rectangle 32"/>
            <p:cNvSpPr/>
            <p:nvPr/>
          </p:nvSpPr>
          <p:spPr>
            <a:xfrm>
              <a:off x="4578284" y="2706361"/>
              <a:ext cx="2096231" cy="6992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Quelle réponse je peux formuler</a:t>
              </a:r>
              <a:endParaRPr lang="fr-FR" sz="1000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>
                  <a:solidFill>
                    <a:schemeClr val="tx1"/>
                  </a:solidFill>
                </a:rPr>
                <a:t>C</a:t>
              </a:r>
              <a:r>
                <a:rPr lang="fr-FR" sz="1000" dirty="0" smtClean="0">
                  <a:solidFill>
                    <a:schemeClr val="tx1"/>
                  </a:solidFill>
                </a:rPr>
                <a:t>asser la polémique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Reformuler le message d’origine</a:t>
              </a:r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4847693" y="2532607"/>
              <a:ext cx="1557411" cy="2472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3</a:t>
              </a:r>
              <a:endParaRPr lang="fr-FR" sz="1050" b="1" dirty="0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7537858" y="3932528"/>
            <a:ext cx="2422052" cy="1126644"/>
            <a:chOff x="438149" y="764931"/>
            <a:chExt cx="1914525" cy="1267215"/>
          </a:xfrm>
        </p:grpSpPr>
        <p:sp>
          <p:nvSpPr>
            <p:cNvPr id="36" name="Rectangle 35"/>
            <p:cNvSpPr/>
            <p:nvPr/>
          </p:nvSpPr>
          <p:spPr>
            <a:xfrm>
              <a:off x="438149" y="764931"/>
              <a:ext cx="1914525" cy="126721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Manipulation d’information importante ?</a:t>
              </a:r>
              <a:br>
                <a:rPr lang="fr-FR" sz="1000" b="1" dirty="0" smtClean="0">
                  <a:solidFill>
                    <a:schemeClr val="tx1"/>
                  </a:solidFill>
                </a:rPr>
              </a:br>
              <a:r>
                <a:rPr lang="fr-FR" sz="1000" b="1" dirty="0" smtClean="0">
                  <a:solidFill>
                    <a:schemeClr val="tx1"/>
                  </a:solidFill>
                </a:rPr>
                <a:t>Réaction négative ?</a:t>
              </a:r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Instrumentalisation ?</a:t>
              </a:r>
              <a:endParaRPr lang="fr-FR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Fusion 36"/>
            <p:cNvSpPr/>
            <p:nvPr/>
          </p:nvSpPr>
          <p:spPr>
            <a:xfrm>
              <a:off x="750277" y="764931"/>
              <a:ext cx="1204546" cy="506303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81" name="Groupe 80"/>
          <p:cNvGrpSpPr/>
          <p:nvPr/>
        </p:nvGrpSpPr>
        <p:grpSpPr>
          <a:xfrm>
            <a:off x="5273329" y="5530459"/>
            <a:ext cx="1285874" cy="953030"/>
            <a:chOff x="3404602" y="5531029"/>
            <a:chExt cx="1285874" cy="953030"/>
          </a:xfrm>
        </p:grpSpPr>
        <p:sp>
          <p:nvSpPr>
            <p:cNvPr id="39" name="ZoneTexte 38"/>
            <p:cNvSpPr txBox="1"/>
            <p:nvPr/>
          </p:nvSpPr>
          <p:spPr>
            <a:xfrm>
              <a:off x="3618914" y="5531029"/>
              <a:ext cx="8572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800" dirty="0" smtClean="0"/>
                <a:t>✉</a:t>
              </a:r>
              <a:endParaRPr lang="fr-FR" sz="4800" dirty="0"/>
            </a:p>
          </p:txBody>
        </p:sp>
        <p:sp>
          <p:nvSpPr>
            <p:cNvPr id="40" name="ZoneTexte 39"/>
            <p:cNvSpPr txBox="1"/>
            <p:nvPr/>
          </p:nvSpPr>
          <p:spPr>
            <a:xfrm>
              <a:off x="3404602" y="6114727"/>
              <a:ext cx="1285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Proposition</a:t>
              </a:r>
              <a:endParaRPr lang="fr-FR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5340531" y="4949194"/>
            <a:ext cx="1151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❌ Ignorer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870582" y="5761291"/>
            <a:ext cx="1148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✅ publier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6723846" y="6387048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9933"/>
                </a:solidFill>
              </a:rPr>
              <a:t>📝 Modifier</a:t>
            </a:r>
            <a:endParaRPr lang="fr-FR" b="1" dirty="0">
              <a:solidFill>
                <a:srgbClr val="FF9933"/>
              </a:solidFill>
            </a:endParaRPr>
          </a:p>
        </p:txBody>
      </p:sp>
      <p:cxnSp>
        <p:nvCxnSpPr>
          <p:cNvPr id="46" name="Connecteur droit avec flèche 45"/>
          <p:cNvCxnSpPr>
            <a:stCxn id="12" idx="3"/>
            <a:endCxn id="14" idx="1"/>
          </p:cNvCxnSpPr>
          <p:nvPr/>
        </p:nvCxnSpPr>
        <p:spPr>
          <a:xfrm>
            <a:off x="3591745" y="1187868"/>
            <a:ext cx="55767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stCxn id="14" idx="3"/>
            <a:endCxn id="7" idx="1"/>
          </p:cNvCxnSpPr>
          <p:nvPr/>
        </p:nvCxnSpPr>
        <p:spPr>
          <a:xfrm>
            <a:off x="5684688" y="1187869"/>
            <a:ext cx="463156" cy="83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>
            <a:stCxn id="7" idx="2"/>
            <a:endCxn id="29" idx="0"/>
          </p:cNvCxnSpPr>
          <p:nvPr/>
        </p:nvCxnSpPr>
        <p:spPr>
          <a:xfrm flipH="1">
            <a:off x="7195957" y="1944933"/>
            <a:ext cx="3" cy="5400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7195956" y="2130046"/>
            <a:ext cx="9090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/>
              <a:t>Contenu général</a:t>
            </a:r>
            <a:endParaRPr lang="fr-FR" sz="700" dirty="0"/>
          </a:p>
        </p:txBody>
      </p:sp>
      <p:sp>
        <p:nvSpPr>
          <p:cNvPr id="61" name="ZoneTexte 60"/>
          <p:cNvSpPr txBox="1"/>
          <p:nvPr/>
        </p:nvSpPr>
        <p:spPr>
          <a:xfrm>
            <a:off x="10302734" y="2945108"/>
            <a:ext cx="909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/>
              <a:t>Contenu de chaque communauté</a:t>
            </a:r>
            <a:endParaRPr lang="fr-FR" sz="700" dirty="0"/>
          </a:p>
        </p:txBody>
      </p:sp>
      <p:cxnSp>
        <p:nvCxnSpPr>
          <p:cNvPr id="62" name="Connecteur droit avec flèche 61"/>
          <p:cNvCxnSpPr>
            <a:stCxn id="7" idx="3"/>
            <a:endCxn id="22" idx="1"/>
          </p:cNvCxnSpPr>
          <p:nvPr/>
        </p:nvCxnSpPr>
        <p:spPr>
          <a:xfrm flipV="1">
            <a:off x="8244075" y="1179904"/>
            <a:ext cx="897859" cy="162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/>
          <p:cNvCxnSpPr>
            <a:stCxn id="22" idx="2"/>
            <a:endCxn id="26" idx="0"/>
          </p:cNvCxnSpPr>
          <p:nvPr/>
        </p:nvCxnSpPr>
        <p:spPr>
          <a:xfrm>
            <a:off x="10253404" y="1875897"/>
            <a:ext cx="11139" cy="37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>
            <a:stCxn id="25" idx="2"/>
            <a:endCxn id="30" idx="0"/>
          </p:cNvCxnSpPr>
          <p:nvPr/>
        </p:nvCxnSpPr>
        <p:spPr>
          <a:xfrm>
            <a:off x="10302734" y="2904309"/>
            <a:ext cx="0" cy="37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/>
          <p:cNvCxnSpPr>
            <a:stCxn id="28" idx="2"/>
            <a:endCxn id="36" idx="1"/>
          </p:cNvCxnSpPr>
          <p:nvPr/>
        </p:nvCxnSpPr>
        <p:spPr>
          <a:xfrm rot="16200000" flipH="1">
            <a:off x="6972530" y="3930522"/>
            <a:ext cx="788756" cy="34190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1"/>
          <p:cNvCxnSpPr>
            <a:stCxn id="30" idx="2"/>
            <a:endCxn id="36" idx="3"/>
          </p:cNvCxnSpPr>
          <p:nvPr/>
        </p:nvCxnSpPr>
        <p:spPr>
          <a:xfrm rot="5400000">
            <a:off x="9655144" y="3848260"/>
            <a:ext cx="952356" cy="34282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>
            <a:stCxn id="36" idx="2"/>
            <a:endCxn id="34" idx="0"/>
          </p:cNvCxnSpPr>
          <p:nvPr/>
        </p:nvCxnSpPr>
        <p:spPr>
          <a:xfrm flipH="1">
            <a:off x="8748883" y="5059172"/>
            <a:ext cx="1" cy="3476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/>
          <p:cNvCxnSpPr>
            <a:stCxn id="33" idx="1"/>
            <a:endCxn id="39" idx="3"/>
          </p:cNvCxnSpPr>
          <p:nvPr/>
        </p:nvCxnSpPr>
        <p:spPr>
          <a:xfrm flipH="1">
            <a:off x="6344891" y="5930214"/>
            <a:ext cx="1355877" cy="15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/>
          <p:cNvCxnSpPr>
            <a:stCxn id="39" idx="0"/>
            <a:endCxn id="41" idx="2"/>
          </p:cNvCxnSpPr>
          <p:nvPr/>
        </p:nvCxnSpPr>
        <p:spPr>
          <a:xfrm flipV="1">
            <a:off x="5916266" y="5318526"/>
            <a:ext cx="0" cy="211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>
            <a:stCxn id="39" idx="1"/>
            <a:endCxn id="43" idx="3"/>
          </p:cNvCxnSpPr>
          <p:nvPr/>
        </p:nvCxnSpPr>
        <p:spPr>
          <a:xfrm flipH="1" flipV="1">
            <a:off x="5018653" y="5945957"/>
            <a:ext cx="468988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/>
          <p:nvPr/>
        </p:nvCxnSpPr>
        <p:spPr>
          <a:xfrm rot="5400000" flipH="1" flipV="1">
            <a:off x="7230755" y="4965360"/>
            <a:ext cx="203641" cy="2832618"/>
          </a:xfrm>
          <a:prstGeom prst="bentConnector3">
            <a:avLst>
              <a:gd name="adj1" fmla="val -112256"/>
            </a:avLst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8840001" y="6361456"/>
            <a:ext cx="258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Chatbot</a:t>
            </a:r>
            <a:r>
              <a:rPr lang="fr-FR" sz="1400" dirty="0" smtClean="0">
                <a:solidFill>
                  <a:srgbClr val="FF0000"/>
                </a:solidFill>
              </a:rPr>
              <a:t> = agent à part ?</a:t>
            </a:r>
            <a:endParaRPr lang="fr-FR" sz="1400" dirty="0">
              <a:solidFill>
                <a:srgbClr val="FF0000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6" y="696677"/>
            <a:ext cx="795490" cy="982381"/>
          </a:xfrm>
          <a:prstGeom prst="rect">
            <a:avLst/>
          </a:prstGeom>
        </p:spPr>
      </p:pic>
      <p:cxnSp>
        <p:nvCxnSpPr>
          <p:cNvPr id="50" name="Connecteur droit avec flèche 49"/>
          <p:cNvCxnSpPr>
            <a:stCxn id="2" idx="3"/>
            <a:endCxn id="12" idx="1"/>
          </p:cNvCxnSpPr>
          <p:nvPr/>
        </p:nvCxnSpPr>
        <p:spPr>
          <a:xfrm>
            <a:off x="1601816" y="1187868"/>
            <a:ext cx="3826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3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1" grpId="0"/>
      <p:bldP spid="43" grpId="0"/>
      <p:bldP spid="44" grpId="0"/>
      <p:bldP spid="60" grpId="0"/>
      <p:bldP spid="61" grpId="0"/>
      <p:bldP spid="10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/>
          <p:cNvGrpSpPr/>
          <p:nvPr/>
        </p:nvGrpSpPr>
        <p:grpSpPr>
          <a:xfrm>
            <a:off x="6147842" y="190855"/>
            <a:ext cx="2096231" cy="1821752"/>
            <a:chOff x="1820008" y="817686"/>
            <a:chExt cx="2497015" cy="2396788"/>
          </a:xfrm>
        </p:grpSpPr>
        <p:sp>
          <p:nvSpPr>
            <p:cNvPr id="7" name="Rectangle 6"/>
            <p:cNvSpPr/>
            <p:nvPr/>
          </p:nvSpPr>
          <p:spPr>
            <a:xfrm>
              <a:off x="1820008" y="1046284"/>
              <a:ext cx="2497015" cy="21681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>
                  <a:solidFill>
                    <a:srgbClr val="FF0000"/>
                  </a:solidFill>
                </a:rPr>
                <a:t>Ce message </a:t>
              </a:r>
              <a:r>
                <a:rPr lang="fr-FR" sz="1000" b="1" dirty="0" smtClean="0">
                  <a:solidFill>
                    <a:srgbClr val="FF0000"/>
                  </a:solidFill>
                </a:rPr>
                <a:t>peut il être viral ?</a:t>
              </a:r>
              <a:endParaRPr lang="fr-FR" sz="1000" dirty="0">
                <a:solidFill>
                  <a:srgbClr val="FF0000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Message 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Impression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err="1" smtClean="0">
                  <a:solidFill>
                    <a:schemeClr val="tx1"/>
                  </a:solidFill>
                </a:rPr>
                <a:t>Likes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err="1">
                  <a:solidFill>
                    <a:schemeClr val="tx1"/>
                  </a:solidFill>
                </a:rPr>
                <a:t>S</a:t>
              </a:r>
              <a:r>
                <a:rPr lang="fr-FR" sz="1000" dirty="0" err="1" smtClean="0">
                  <a:solidFill>
                    <a:schemeClr val="tx1"/>
                  </a:solidFill>
                </a:rPr>
                <a:t>hares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Comment</a:t>
              </a:r>
              <a:br>
                <a:rPr lang="fr-FR" sz="1000" dirty="0" smtClean="0">
                  <a:solidFill>
                    <a:schemeClr val="tx1"/>
                  </a:solidFill>
                </a:rPr>
              </a:br>
              <a:r>
                <a:rPr lang="fr-FR" sz="1000" dirty="0" smtClean="0">
                  <a:solidFill>
                    <a:schemeClr val="tx1"/>
                  </a:solidFill>
                </a:rPr>
                <a:t>Simple retweet ou message</a:t>
              </a:r>
              <a:endParaRPr lang="fr-FR" sz="1000" dirty="0">
                <a:solidFill>
                  <a:schemeClr val="tx1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Auteur :</a:t>
              </a:r>
              <a:endParaRPr lang="fr-FR" sz="1000" u="sng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nb </a:t>
              </a:r>
              <a:r>
                <a:rPr lang="fr-FR" sz="1000" dirty="0" err="1">
                  <a:solidFill>
                    <a:schemeClr val="tx1"/>
                  </a:solidFill>
                </a:rPr>
                <a:t>followers</a:t>
              </a:r>
              <a:endParaRPr lang="fr-F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certifié </a:t>
              </a:r>
              <a:r>
                <a:rPr lang="fr-FR" sz="1000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2140926" y="817686"/>
              <a:ext cx="1855177" cy="32531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1</a:t>
              </a:r>
              <a:endParaRPr lang="fr-FR" sz="1050" b="1" dirty="0"/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1984511" y="696677"/>
            <a:ext cx="1607234" cy="982381"/>
            <a:chOff x="438149" y="764931"/>
            <a:chExt cx="1914525" cy="1679329"/>
          </a:xfrm>
        </p:grpSpPr>
        <p:sp>
          <p:nvSpPr>
            <p:cNvPr id="12" name="Rectangle 11"/>
            <p:cNvSpPr/>
            <p:nvPr/>
          </p:nvSpPr>
          <p:spPr>
            <a:xfrm>
              <a:off x="438149" y="764931"/>
              <a:ext cx="1914525" cy="1679329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rgbClr val="7030A0"/>
                  </a:solidFill>
                </a:rPr>
                <a:t>Auteur publication origine</a:t>
              </a:r>
            </a:p>
            <a:p>
              <a:r>
                <a:rPr lang="fr-FR" sz="1000" b="1" dirty="0" smtClean="0">
                  <a:solidFill>
                    <a:srgbClr val="7030A0"/>
                  </a:solidFill>
                </a:rPr>
                <a:t>Mot clés ? </a:t>
              </a:r>
            </a:p>
            <a:p>
              <a:r>
                <a:rPr lang="fr-FR" sz="1000" b="1" dirty="0" err="1" smtClean="0">
                  <a:solidFill>
                    <a:srgbClr val="7030A0"/>
                  </a:solidFill>
                </a:rPr>
                <a:t>HashTag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 ?</a:t>
              </a:r>
              <a:endParaRPr lang="fr-FR" sz="1000" b="1" dirty="0">
                <a:solidFill>
                  <a:srgbClr val="7030A0"/>
                </a:solidFill>
              </a:endParaRPr>
            </a:p>
          </p:txBody>
        </p:sp>
        <p:sp>
          <p:nvSpPr>
            <p:cNvPr id="11" name="Organigramme : Fusion 10"/>
            <p:cNvSpPr/>
            <p:nvPr/>
          </p:nvSpPr>
          <p:spPr>
            <a:xfrm>
              <a:off x="750277" y="764931"/>
              <a:ext cx="1204546" cy="602616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4141117" y="242791"/>
            <a:ext cx="1543571" cy="1593240"/>
            <a:chOff x="2921611" y="439615"/>
            <a:chExt cx="1838691" cy="1745638"/>
          </a:xfrm>
        </p:grpSpPr>
        <p:sp>
          <p:nvSpPr>
            <p:cNvPr id="14" name="Rectangle 13"/>
            <p:cNvSpPr/>
            <p:nvPr/>
          </p:nvSpPr>
          <p:spPr>
            <a:xfrm>
              <a:off x="2931502" y="764931"/>
              <a:ext cx="1828800" cy="142032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000" dirty="0" smtClean="0"/>
            </a:p>
            <a:p>
              <a:pPr algn="ctr"/>
              <a:endParaRPr lang="fr-FR" sz="1000" dirty="0"/>
            </a:p>
            <a:p>
              <a:pPr algn="ctr"/>
              <a:r>
                <a:rPr lang="fr-FR" sz="1000" dirty="0" smtClean="0"/>
                <a:t>Nombre de messages sur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H</a:t>
              </a:r>
              <a:r>
                <a:rPr lang="fr-FR" sz="1000" dirty="0" smtClean="0"/>
                <a:t> dernières heures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  <a:p>
              <a:pPr algn="ctr"/>
              <a:endParaRPr lang="fr-FR" sz="1000" dirty="0" smtClean="0"/>
            </a:p>
            <a:p>
              <a:pPr algn="ctr"/>
              <a:r>
                <a:rPr lang="fr-FR" sz="1000" dirty="0" smtClean="0"/>
                <a:t>Nombre d ’impressions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</p:txBody>
        </p:sp>
        <p:sp>
          <p:nvSpPr>
            <p:cNvPr id="17" name="Explosion 1 16"/>
            <p:cNvSpPr/>
            <p:nvPr/>
          </p:nvSpPr>
          <p:spPr>
            <a:xfrm>
              <a:off x="2921611" y="439615"/>
              <a:ext cx="1838691" cy="789110"/>
            </a:xfrm>
            <a:prstGeom prst="irregularSeal1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TRIGGER</a:t>
              </a:r>
              <a:endParaRPr lang="fr-FR" sz="1200" dirty="0"/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9141934" y="139465"/>
            <a:ext cx="2222940" cy="1736432"/>
            <a:chOff x="4381500" y="3956904"/>
            <a:chExt cx="2647950" cy="2284537"/>
          </a:xfrm>
        </p:grpSpPr>
        <p:sp>
          <p:nvSpPr>
            <p:cNvPr id="22" name="Rectangle 21"/>
            <p:cNvSpPr/>
            <p:nvPr/>
          </p:nvSpPr>
          <p:spPr>
            <a:xfrm>
              <a:off x="4381500" y="4410075"/>
              <a:ext cx="2647950" cy="1831366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endParaRPr lang="fr-FR" sz="1000" b="1" dirty="0">
                <a:solidFill>
                  <a:srgbClr val="FF0000"/>
                </a:solidFill>
              </a:endParaRPr>
            </a:p>
            <a:p>
              <a:r>
                <a:rPr lang="fr-FR" sz="1000" b="1" dirty="0" smtClean="0">
                  <a:solidFill>
                    <a:srgbClr val="FF0000"/>
                  </a:solidFill>
                </a:rPr>
                <a:t>Identifier les communautés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/>
                <a:t>nombre de comptes</a:t>
              </a:r>
              <a:br>
                <a:rPr lang="fr-FR" sz="1000" dirty="0" smtClean="0"/>
              </a:br>
              <a:r>
                <a:rPr lang="fr-FR" sz="1000" dirty="0" smtClean="0"/>
                <a:t>proportion comptes certifiés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/>
                <a:t>nombre total de </a:t>
              </a:r>
              <a:r>
                <a:rPr lang="fr-FR" sz="1000" dirty="0" err="1" smtClean="0"/>
                <a:t>followers</a:t>
              </a:r>
              <a:endParaRPr lang="fr-FR" sz="1000" dirty="0" smtClean="0"/>
            </a:p>
            <a:p>
              <a:endParaRPr lang="fr-FR" sz="1000" dirty="0"/>
            </a:p>
            <a:p>
              <a:r>
                <a:rPr lang="fr-FR" sz="1000" b="1" dirty="0" smtClean="0"/>
                <a:t>significatif</a:t>
              </a:r>
              <a:r>
                <a:rPr lang="fr-FR" sz="1000" dirty="0" smtClean="0"/>
                <a:t> = nombre de comptes/nombre comptes total thème &gt; </a:t>
              </a:r>
              <a:r>
                <a:rPr lang="fr-FR" sz="1000" b="1" dirty="0" smtClean="0">
                  <a:solidFill>
                    <a:srgbClr val="7030A0"/>
                  </a:solidFill>
                </a:rPr>
                <a:t>Seuil</a:t>
              </a:r>
            </a:p>
            <a:p>
              <a:endParaRPr lang="fr-FR" sz="1000" dirty="0"/>
            </a:p>
          </p:txBody>
        </p:sp>
        <p:sp>
          <p:nvSpPr>
            <p:cNvPr id="21" name="Carré corné 20"/>
            <p:cNvSpPr/>
            <p:nvPr/>
          </p:nvSpPr>
          <p:spPr>
            <a:xfrm>
              <a:off x="4736307" y="3956904"/>
              <a:ext cx="1819275" cy="613630"/>
            </a:xfrm>
            <a:prstGeom prst="foldedCorner">
              <a:avLst>
                <a:gd name="adj" fmla="val 28799"/>
              </a:avLst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fr-FR" sz="1200" dirty="0" smtClean="0"/>
                <a:t>SCRIPT 1</a:t>
              </a:r>
              <a:endParaRPr lang="fr-FR" sz="1200" dirty="0"/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9449788" y="2254958"/>
            <a:ext cx="1705892" cy="649351"/>
            <a:chOff x="438149" y="764931"/>
            <a:chExt cx="1914525" cy="1110033"/>
          </a:xfrm>
        </p:grpSpPr>
        <p:sp>
          <p:nvSpPr>
            <p:cNvPr id="25" name="Rectangle 24"/>
            <p:cNvSpPr/>
            <p:nvPr/>
          </p:nvSpPr>
          <p:spPr>
            <a:xfrm>
              <a:off x="438149" y="764931"/>
              <a:ext cx="1914525" cy="111003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Significatif ?</a:t>
              </a:r>
              <a:endParaRPr lang="fr-FR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Organigramme : Fusion 25"/>
            <p:cNvSpPr/>
            <p:nvPr/>
          </p:nvSpPr>
          <p:spPr>
            <a:xfrm>
              <a:off x="750277" y="764931"/>
              <a:ext cx="1204546" cy="602616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6147842" y="2484982"/>
            <a:ext cx="2096231" cy="1222112"/>
            <a:chOff x="4578284" y="2532607"/>
            <a:chExt cx="2096231" cy="1222112"/>
          </a:xfrm>
        </p:grpSpPr>
        <p:sp>
          <p:nvSpPr>
            <p:cNvPr id="28" name="Rectangle 27"/>
            <p:cNvSpPr/>
            <p:nvPr/>
          </p:nvSpPr>
          <p:spPr>
            <a:xfrm>
              <a:off x="4578284" y="2706360"/>
              <a:ext cx="2096231" cy="104835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Le contenu du message est-il un problème ?</a:t>
              </a:r>
              <a:endParaRPr lang="fr-FR" sz="1000" dirty="0">
                <a:solidFill>
                  <a:srgbClr val="FF0000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Analyse du narratif</a:t>
              </a: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Analyse de sentiment</a:t>
              </a: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Catégorisation des thèmes</a:t>
              </a:r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4847693" y="2532607"/>
              <a:ext cx="1557411" cy="2472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2</a:t>
              </a:r>
              <a:endParaRPr lang="fr-FR" sz="1050" b="1" dirty="0"/>
            </a:p>
          </p:txBody>
        </p:sp>
      </p:grpSp>
      <p:sp>
        <p:nvSpPr>
          <p:cNvPr id="30" name="Rectangle à coins arrondis 29"/>
          <p:cNvSpPr/>
          <p:nvPr/>
        </p:nvSpPr>
        <p:spPr>
          <a:xfrm>
            <a:off x="9499117" y="3283370"/>
            <a:ext cx="1607234" cy="26012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 smtClean="0"/>
              <a:t>AGENT 2 bis</a:t>
            </a:r>
            <a:endParaRPr lang="fr-FR" sz="1050" b="1" dirty="0"/>
          </a:p>
        </p:txBody>
      </p:sp>
      <p:grpSp>
        <p:nvGrpSpPr>
          <p:cNvPr id="32" name="Groupe 31"/>
          <p:cNvGrpSpPr/>
          <p:nvPr/>
        </p:nvGrpSpPr>
        <p:grpSpPr>
          <a:xfrm>
            <a:off x="7700768" y="5406826"/>
            <a:ext cx="2096231" cy="873022"/>
            <a:chOff x="4578284" y="2532607"/>
            <a:chExt cx="2096231" cy="873022"/>
          </a:xfrm>
        </p:grpSpPr>
        <p:sp>
          <p:nvSpPr>
            <p:cNvPr id="33" name="Rectangle 32"/>
            <p:cNvSpPr/>
            <p:nvPr/>
          </p:nvSpPr>
          <p:spPr>
            <a:xfrm>
              <a:off x="4578284" y="2706361"/>
              <a:ext cx="2096231" cy="69926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Quelle réponse je peux formuler</a:t>
              </a:r>
              <a:endParaRPr lang="fr-FR" sz="1000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>
                  <a:solidFill>
                    <a:schemeClr val="tx1"/>
                  </a:solidFill>
                </a:rPr>
                <a:t>C</a:t>
              </a:r>
              <a:r>
                <a:rPr lang="fr-FR" sz="1000" dirty="0" smtClean="0">
                  <a:solidFill>
                    <a:schemeClr val="tx1"/>
                  </a:solidFill>
                </a:rPr>
                <a:t>asser la polémique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Reformuler le message d’origine</a:t>
              </a:r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4847693" y="2532607"/>
              <a:ext cx="1557411" cy="24726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3</a:t>
              </a:r>
              <a:endParaRPr lang="fr-FR" sz="1050" b="1" dirty="0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7537858" y="3932528"/>
            <a:ext cx="2422052" cy="1126644"/>
            <a:chOff x="438149" y="764931"/>
            <a:chExt cx="1914525" cy="1267215"/>
          </a:xfrm>
        </p:grpSpPr>
        <p:sp>
          <p:nvSpPr>
            <p:cNvPr id="36" name="Rectangle 35"/>
            <p:cNvSpPr/>
            <p:nvPr/>
          </p:nvSpPr>
          <p:spPr>
            <a:xfrm>
              <a:off x="438149" y="764931"/>
              <a:ext cx="1914525" cy="126721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endParaRPr lang="fr-FR" sz="1200" dirty="0" smtClean="0"/>
            </a:p>
            <a:p>
              <a:pPr algn="ctr"/>
              <a:endParaRPr lang="fr-FR" sz="1200" dirty="0" smtClean="0"/>
            </a:p>
            <a:p>
              <a:pPr algn="ctr"/>
              <a:endParaRPr lang="fr-FR" sz="1200" dirty="0"/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Manipulation d’information importante ?</a:t>
              </a:r>
              <a:br>
                <a:rPr lang="fr-FR" sz="1000" b="1" dirty="0" smtClean="0">
                  <a:solidFill>
                    <a:schemeClr val="tx1"/>
                  </a:solidFill>
                </a:rPr>
              </a:br>
              <a:r>
                <a:rPr lang="fr-FR" sz="1000" b="1" dirty="0" smtClean="0">
                  <a:solidFill>
                    <a:schemeClr val="tx1"/>
                  </a:solidFill>
                </a:rPr>
                <a:t>Réaction négative ?</a:t>
              </a:r>
            </a:p>
            <a:p>
              <a:r>
                <a:rPr lang="fr-FR" sz="1000" b="1" dirty="0" smtClean="0">
                  <a:solidFill>
                    <a:schemeClr val="tx1"/>
                  </a:solidFill>
                </a:rPr>
                <a:t>Instrumentalisation ?</a:t>
              </a:r>
              <a:endParaRPr lang="fr-FR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Fusion 36"/>
            <p:cNvSpPr/>
            <p:nvPr/>
          </p:nvSpPr>
          <p:spPr>
            <a:xfrm>
              <a:off x="750277" y="764931"/>
              <a:ext cx="1204546" cy="506303"/>
            </a:xfrm>
            <a:prstGeom prst="flowChartMerg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fr-FR" sz="1100" b="1" dirty="0" smtClean="0"/>
                <a:t>FILTER</a:t>
              </a:r>
              <a:endParaRPr lang="fr-FR" sz="1100" b="1" dirty="0"/>
            </a:p>
          </p:txBody>
        </p:sp>
      </p:grpSp>
      <p:grpSp>
        <p:nvGrpSpPr>
          <p:cNvPr id="81" name="Groupe 80"/>
          <p:cNvGrpSpPr/>
          <p:nvPr/>
        </p:nvGrpSpPr>
        <p:grpSpPr>
          <a:xfrm>
            <a:off x="5273329" y="5530459"/>
            <a:ext cx="1285874" cy="953030"/>
            <a:chOff x="3404602" y="5531029"/>
            <a:chExt cx="1285874" cy="953030"/>
          </a:xfrm>
        </p:grpSpPr>
        <p:sp>
          <p:nvSpPr>
            <p:cNvPr id="39" name="ZoneTexte 38"/>
            <p:cNvSpPr txBox="1"/>
            <p:nvPr/>
          </p:nvSpPr>
          <p:spPr>
            <a:xfrm>
              <a:off x="3618914" y="5531029"/>
              <a:ext cx="8572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800" dirty="0" smtClean="0"/>
                <a:t>✉</a:t>
              </a:r>
              <a:endParaRPr lang="fr-FR" sz="4800" dirty="0"/>
            </a:p>
          </p:txBody>
        </p:sp>
        <p:sp>
          <p:nvSpPr>
            <p:cNvPr id="40" name="ZoneTexte 39"/>
            <p:cNvSpPr txBox="1"/>
            <p:nvPr/>
          </p:nvSpPr>
          <p:spPr>
            <a:xfrm>
              <a:off x="3404602" y="6114727"/>
              <a:ext cx="12858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Proposition</a:t>
              </a:r>
              <a:endParaRPr lang="fr-FR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5340531" y="4949194"/>
            <a:ext cx="11514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❌ Ignorer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870582" y="5761291"/>
            <a:ext cx="1148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✅ publier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6723846" y="6387048"/>
            <a:ext cx="1381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9933"/>
                </a:solidFill>
              </a:rPr>
              <a:t>📝 Modifier</a:t>
            </a:r>
            <a:endParaRPr lang="fr-FR" b="1" dirty="0">
              <a:solidFill>
                <a:srgbClr val="FF9933"/>
              </a:solidFill>
            </a:endParaRPr>
          </a:p>
        </p:txBody>
      </p:sp>
      <p:cxnSp>
        <p:nvCxnSpPr>
          <p:cNvPr id="46" name="Connecteur droit avec flèche 45"/>
          <p:cNvCxnSpPr>
            <a:stCxn id="12" idx="3"/>
            <a:endCxn id="14" idx="1"/>
          </p:cNvCxnSpPr>
          <p:nvPr/>
        </p:nvCxnSpPr>
        <p:spPr>
          <a:xfrm>
            <a:off x="3591745" y="1187868"/>
            <a:ext cx="557675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>
            <a:stCxn id="14" idx="3"/>
            <a:endCxn id="7" idx="1"/>
          </p:cNvCxnSpPr>
          <p:nvPr/>
        </p:nvCxnSpPr>
        <p:spPr>
          <a:xfrm>
            <a:off x="5684688" y="1187869"/>
            <a:ext cx="463154" cy="7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>
            <a:stCxn id="7" idx="2"/>
            <a:endCxn id="29" idx="0"/>
          </p:cNvCxnSpPr>
          <p:nvPr/>
        </p:nvCxnSpPr>
        <p:spPr>
          <a:xfrm flipH="1">
            <a:off x="7195957" y="2012607"/>
            <a:ext cx="1" cy="4723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/>
          <p:cNvSpPr txBox="1"/>
          <p:nvPr/>
        </p:nvSpPr>
        <p:spPr>
          <a:xfrm>
            <a:off x="7195956" y="2130046"/>
            <a:ext cx="9090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/>
              <a:t>Contenu général</a:t>
            </a:r>
            <a:endParaRPr lang="fr-FR" sz="700" dirty="0"/>
          </a:p>
        </p:txBody>
      </p:sp>
      <p:sp>
        <p:nvSpPr>
          <p:cNvPr id="61" name="ZoneTexte 60"/>
          <p:cNvSpPr txBox="1"/>
          <p:nvPr/>
        </p:nvSpPr>
        <p:spPr>
          <a:xfrm>
            <a:off x="10302734" y="2945108"/>
            <a:ext cx="909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smtClean="0"/>
              <a:t>Contenu de chaque communauté</a:t>
            </a:r>
            <a:endParaRPr lang="fr-FR" sz="700" dirty="0"/>
          </a:p>
        </p:txBody>
      </p:sp>
      <p:cxnSp>
        <p:nvCxnSpPr>
          <p:cNvPr id="62" name="Connecteur droit avec flèche 61"/>
          <p:cNvCxnSpPr>
            <a:stCxn id="7" idx="3"/>
            <a:endCxn id="22" idx="1"/>
          </p:cNvCxnSpPr>
          <p:nvPr/>
        </p:nvCxnSpPr>
        <p:spPr>
          <a:xfrm flipV="1">
            <a:off x="8244073" y="1179904"/>
            <a:ext cx="897861" cy="87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/>
          <p:cNvCxnSpPr>
            <a:stCxn id="22" idx="2"/>
            <a:endCxn id="26" idx="0"/>
          </p:cNvCxnSpPr>
          <p:nvPr/>
        </p:nvCxnSpPr>
        <p:spPr>
          <a:xfrm>
            <a:off x="10253404" y="1875897"/>
            <a:ext cx="11139" cy="37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/>
          <p:cNvCxnSpPr>
            <a:stCxn id="25" idx="2"/>
            <a:endCxn id="30" idx="0"/>
          </p:cNvCxnSpPr>
          <p:nvPr/>
        </p:nvCxnSpPr>
        <p:spPr>
          <a:xfrm>
            <a:off x="10302734" y="2904309"/>
            <a:ext cx="0" cy="3790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/>
          <p:cNvCxnSpPr>
            <a:stCxn id="28" idx="2"/>
            <a:endCxn id="36" idx="1"/>
          </p:cNvCxnSpPr>
          <p:nvPr/>
        </p:nvCxnSpPr>
        <p:spPr>
          <a:xfrm rot="16200000" flipH="1">
            <a:off x="6972530" y="3930522"/>
            <a:ext cx="788756" cy="341900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1"/>
          <p:cNvCxnSpPr>
            <a:stCxn id="30" idx="2"/>
            <a:endCxn id="36" idx="3"/>
          </p:cNvCxnSpPr>
          <p:nvPr/>
        </p:nvCxnSpPr>
        <p:spPr>
          <a:xfrm rot="5400000">
            <a:off x="9655144" y="3848260"/>
            <a:ext cx="952356" cy="34282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>
            <a:stCxn id="36" idx="2"/>
            <a:endCxn id="34" idx="0"/>
          </p:cNvCxnSpPr>
          <p:nvPr/>
        </p:nvCxnSpPr>
        <p:spPr>
          <a:xfrm flipH="1">
            <a:off x="8748883" y="5059172"/>
            <a:ext cx="1" cy="3476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/>
          <p:cNvCxnSpPr>
            <a:stCxn id="33" idx="1"/>
            <a:endCxn id="39" idx="3"/>
          </p:cNvCxnSpPr>
          <p:nvPr/>
        </p:nvCxnSpPr>
        <p:spPr>
          <a:xfrm flipH="1">
            <a:off x="6344891" y="5930214"/>
            <a:ext cx="1355877" cy="157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/>
          <p:cNvCxnSpPr>
            <a:stCxn id="39" idx="0"/>
            <a:endCxn id="41" idx="2"/>
          </p:cNvCxnSpPr>
          <p:nvPr/>
        </p:nvCxnSpPr>
        <p:spPr>
          <a:xfrm flipV="1">
            <a:off x="5916266" y="5318526"/>
            <a:ext cx="0" cy="2119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avec flèche 92"/>
          <p:cNvCxnSpPr>
            <a:stCxn id="39" idx="1"/>
            <a:endCxn id="43" idx="3"/>
          </p:cNvCxnSpPr>
          <p:nvPr/>
        </p:nvCxnSpPr>
        <p:spPr>
          <a:xfrm flipH="1" flipV="1">
            <a:off x="5018653" y="5945957"/>
            <a:ext cx="468988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/>
          <p:nvPr/>
        </p:nvCxnSpPr>
        <p:spPr>
          <a:xfrm rot="5400000" flipH="1" flipV="1">
            <a:off x="7230755" y="4965360"/>
            <a:ext cx="203641" cy="2832618"/>
          </a:xfrm>
          <a:prstGeom prst="bentConnector3">
            <a:avLst>
              <a:gd name="adj1" fmla="val -112256"/>
            </a:avLst>
          </a:prstGeom>
          <a:ln w="38100">
            <a:solidFill>
              <a:srgbClr val="FF99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ZoneTexte 99"/>
          <p:cNvSpPr txBox="1"/>
          <p:nvPr/>
        </p:nvSpPr>
        <p:spPr>
          <a:xfrm>
            <a:off x="8840001" y="6361456"/>
            <a:ext cx="25826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>
                <a:solidFill>
                  <a:srgbClr val="FF0000"/>
                </a:solidFill>
              </a:rPr>
              <a:t>Chatbot</a:t>
            </a:r>
            <a:r>
              <a:rPr lang="fr-FR" sz="1400" dirty="0" smtClean="0">
                <a:solidFill>
                  <a:srgbClr val="FF0000"/>
                </a:solidFill>
              </a:rPr>
              <a:t> = agent à part ?</a:t>
            </a:r>
            <a:endParaRPr lang="fr-FR" sz="1400" dirty="0">
              <a:solidFill>
                <a:srgbClr val="FF0000"/>
              </a:solidFill>
            </a:endParaRPr>
          </a:p>
        </p:txBody>
      </p:sp>
      <p:grpSp>
        <p:nvGrpSpPr>
          <p:cNvPr id="49" name="Groupe 48"/>
          <p:cNvGrpSpPr/>
          <p:nvPr/>
        </p:nvGrpSpPr>
        <p:grpSpPr>
          <a:xfrm>
            <a:off x="1740012" y="2170249"/>
            <a:ext cx="2096231" cy="1671272"/>
            <a:chOff x="1820008" y="817686"/>
            <a:chExt cx="2497015" cy="2198809"/>
          </a:xfrm>
        </p:grpSpPr>
        <p:sp>
          <p:nvSpPr>
            <p:cNvPr id="50" name="Rectangle 49"/>
            <p:cNvSpPr/>
            <p:nvPr/>
          </p:nvSpPr>
          <p:spPr>
            <a:xfrm>
              <a:off x="1820008" y="1046284"/>
              <a:ext cx="2497015" cy="1970211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Évaluer la santé de mes publications</a:t>
              </a:r>
              <a:endParaRPr lang="fr-FR" sz="1000" dirty="0">
                <a:solidFill>
                  <a:srgbClr val="FF0000"/>
                </a:solidFill>
              </a:endParaRP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Impressions, </a:t>
              </a:r>
              <a:r>
                <a:rPr lang="fr-FR" sz="1000" u="sng" dirty="0" err="1" smtClean="0">
                  <a:solidFill>
                    <a:schemeClr val="tx1"/>
                  </a:solidFill>
                </a:rPr>
                <a:t>likes</a:t>
              </a:r>
              <a:r>
                <a:rPr lang="fr-FR" sz="1000" u="sng" dirty="0" smtClean="0">
                  <a:solidFill>
                    <a:schemeClr val="tx1"/>
                  </a:solidFill>
                </a:rPr>
                <a:t>, retweet, …</a:t>
              </a:r>
            </a:p>
            <a:p>
              <a:r>
                <a:rPr lang="fr-FR" sz="1000" u="sng" dirty="0" smtClean="0">
                  <a:solidFill>
                    <a:schemeClr val="tx1"/>
                  </a:solidFill>
                </a:rPr>
                <a:t>Sentiment global </a:t>
              </a:r>
              <a:endParaRPr lang="fr-FR" sz="1000" u="sng" dirty="0" smtClean="0">
                <a:solidFill>
                  <a:schemeClr val="tx1"/>
                </a:solidFill>
              </a:endParaRPr>
            </a:p>
          </p:txBody>
        </p:sp>
        <p:sp>
          <p:nvSpPr>
            <p:cNvPr id="52" name="Rectangle à coins arrondis 51"/>
            <p:cNvSpPr/>
            <p:nvPr/>
          </p:nvSpPr>
          <p:spPr>
            <a:xfrm>
              <a:off x="2140926" y="817686"/>
              <a:ext cx="1855177" cy="3253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prstDash val="dash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4</a:t>
              </a:r>
              <a:endParaRPr lang="fr-FR" sz="1050" b="1" dirty="0"/>
            </a:p>
          </p:txBody>
        </p:sp>
      </p:grpSp>
      <p:grpSp>
        <p:nvGrpSpPr>
          <p:cNvPr id="53" name="Groupe 52"/>
          <p:cNvGrpSpPr/>
          <p:nvPr/>
        </p:nvGrpSpPr>
        <p:grpSpPr>
          <a:xfrm>
            <a:off x="120111" y="4258942"/>
            <a:ext cx="2403727" cy="1671272"/>
            <a:chOff x="1820008" y="817686"/>
            <a:chExt cx="2497015" cy="2198809"/>
          </a:xfrm>
        </p:grpSpPr>
        <p:sp>
          <p:nvSpPr>
            <p:cNvPr id="54" name="Rectangle 53"/>
            <p:cNvSpPr/>
            <p:nvPr/>
          </p:nvSpPr>
          <p:spPr>
            <a:xfrm>
              <a:off x="1820008" y="1046284"/>
              <a:ext cx="2497015" cy="1970211"/>
            </a:xfrm>
            <a:prstGeom prst="rect">
              <a:avLst/>
            </a:prstGeom>
            <a:ln w="12700"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fr-FR" sz="1000" b="1" dirty="0" smtClean="0">
                  <a:solidFill>
                    <a:srgbClr val="FF0000"/>
                  </a:solidFill>
                </a:rPr>
                <a:t>Conseiller la communication</a:t>
              </a:r>
              <a:endParaRPr lang="fr-FR" sz="1000" dirty="0">
                <a:solidFill>
                  <a:srgbClr val="FF0000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Entrainé sur les messages les plus partagés avec analyse des sentiments générés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000" dirty="0" smtClean="0">
                  <a:solidFill>
                    <a:schemeClr val="tx1"/>
                  </a:solidFill>
                </a:rPr>
                <a:t>=&gt; Évaluer la qualité d’un message avant sa publication.</a:t>
              </a:r>
              <a:endParaRPr lang="fr-FR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à coins arrondis 54"/>
            <p:cNvSpPr/>
            <p:nvPr/>
          </p:nvSpPr>
          <p:spPr>
            <a:xfrm>
              <a:off x="2140926" y="817686"/>
              <a:ext cx="1855177" cy="325316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prstDash val="dash"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 smtClean="0"/>
                <a:t>AGENT 5</a:t>
              </a:r>
              <a:endParaRPr lang="fr-FR" sz="1050" b="1" dirty="0"/>
            </a:p>
          </p:txBody>
        </p:sp>
      </p:grpSp>
      <p:cxnSp>
        <p:nvCxnSpPr>
          <p:cNvPr id="56" name="Connecteur droit avec flèche 55"/>
          <p:cNvCxnSpPr>
            <a:stCxn id="12" idx="2"/>
            <a:endCxn id="52" idx="0"/>
          </p:cNvCxnSpPr>
          <p:nvPr/>
        </p:nvCxnSpPr>
        <p:spPr>
          <a:xfrm flipH="1">
            <a:off x="2788127" y="1679058"/>
            <a:ext cx="1" cy="49119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avec flèche 57"/>
          <p:cNvCxnSpPr>
            <a:stCxn id="50" idx="3"/>
            <a:endCxn id="14" idx="2"/>
          </p:cNvCxnSpPr>
          <p:nvPr/>
        </p:nvCxnSpPr>
        <p:spPr>
          <a:xfrm flipV="1">
            <a:off x="3836243" y="1836031"/>
            <a:ext cx="1080811" cy="1256731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57"/>
          <p:cNvCxnSpPr>
            <a:stCxn id="54" idx="3"/>
            <a:endCxn id="50" idx="2"/>
          </p:cNvCxnSpPr>
          <p:nvPr/>
        </p:nvCxnSpPr>
        <p:spPr>
          <a:xfrm flipV="1">
            <a:off x="2523838" y="3841521"/>
            <a:ext cx="264290" cy="1339934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57"/>
          <p:cNvCxnSpPr>
            <a:stCxn id="50" idx="1"/>
            <a:endCxn id="55" idx="0"/>
          </p:cNvCxnSpPr>
          <p:nvPr/>
        </p:nvCxnSpPr>
        <p:spPr>
          <a:xfrm rot="10800000" flipV="1">
            <a:off x="1321974" y="3092762"/>
            <a:ext cx="418038" cy="1166180"/>
          </a:xfrm>
          <a:prstGeom prst="bentConnector2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3800261" y="3093384"/>
            <a:ext cx="1511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Mauvaises réactions</a:t>
            </a:r>
            <a:endParaRPr lang="fr-F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6" name="Imag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26" y="696677"/>
            <a:ext cx="795490" cy="982381"/>
          </a:xfrm>
          <a:prstGeom prst="rect">
            <a:avLst/>
          </a:prstGeom>
        </p:spPr>
      </p:pic>
      <p:cxnSp>
        <p:nvCxnSpPr>
          <p:cNvPr id="67" name="Connecteur droit avec flèche 66"/>
          <p:cNvCxnSpPr>
            <a:stCxn id="66" idx="3"/>
          </p:cNvCxnSpPr>
          <p:nvPr/>
        </p:nvCxnSpPr>
        <p:spPr>
          <a:xfrm>
            <a:off x="1601816" y="1187868"/>
            <a:ext cx="3826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48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Présentation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Hypothèse : nous sommes responsables de la communication</a:t>
            </a:r>
          </a:p>
          <a:p>
            <a:r>
              <a:rPr lang="fr-FR" dirty="0" smtClean="0"/>
              <a:t>Solution : tableau de bord </a:t>
            </a:r>
          </a:p>
          <a:p>
            <a:pPr lvl="1"/>
            <a:r>
              <a:rPr lang="fr-FR" dirty="0" smtClean="0"/>
              <a:t>Liste des tweets publiés dans les x derniers jours. </a:t>
            </a:r>
          </a:p>
          <a:p>
            <a:pPr lvl="2"/>
            <a:r>
              <a:rPr lang="fr-FR" dirty="0" smtClean="0"/>
              <a:t>Réaction générale</a:t>
            </a:r>
          </a:p>
          <a:p>
            <a:pPr lvl="2"/>
            <a:r>
              <a:rPr lang="fr-FR" dirty="0" smtClean="0"/>
              <a:t>Engouement</a:t>
            </a:r>
          </a:p>
          <a:p>
            <a:pPr lvl="2"/>
            <a:r>
              <a:rPr lang="fr-FR" dirty="0" smtClean="0"/>
              <a:t>Intervention nécessaire (proposition)</a:t>
            </a:r>
          </a:p>
          <a:p>
            <a:pPr lvl="2"/>
            <a:r>
              <a:rPr lang="fr-FR" dirty="0" smtClean="0"/>
              <a:t>Outil de publication (KPI de réaction prévue)</a:t>
            </a:r>
          </a:p>
          <a:p>
            <a:pPr lvl="2"/>
            <a:r>
              <a:rPr lang="fr-FR" dirty="0" smtClean="0"/>
              <a:t>Paramètres (filtres, seuils, éléments de langage, …)</a:t>
            </a:r>
          </a:p>
        </p:txBody>
      </p:sp>
    </p:spTree>
    <p:extLst>
      <p:ext uri="{BB962C8B-B14F-4D97-AF65-F5344CB8AC3E}">
        <p14:creationId xmlns:p14="http://schemas.microsoft.com/office/powerpoint/2010/main" val="248654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320</Words>
  <Application>Microsoft Office PowerPoint</Application>
  <PresentationFormat>Grand écran</PresentationFormat>
  <Paragraphs>132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pouchin johann</dc:creator>
  <cp:lastModifiedBy>pouchin johann</cp:lastModifiedBy>
  <cp:revision>18</cp:revision>
  <dcterms:created xsi:type="dcterms:W3CDTF">2026-06-24T17:25:16Z</dcterms:created>
  <dcterms:modified xsi:type="dcterms:W3CDTF">2026-06-25T16:07:00Z</dcterms:modified>
</cp:coreProperties>
</file>